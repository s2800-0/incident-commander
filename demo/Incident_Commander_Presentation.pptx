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Policy ON</c:v>
                </c:pt>
              </c:strCache>
            </c:strRef>
          </c:tx>
          <c:spPr>
            <a:solidFill>
              <a:srgbClr val="049FD9"/>
            </a:solidFill>
          </c:spPr>
          <c:cat>
            <c:strRef>
              <c:f>Sheet1!$A$2:$A$6</c:f>
              <c:strCache>
                <c:ptCount val="5"/>
                <c:pt idx="0">
                  <c:v>ambiguous</c:v>
                </c:pt>
                <c:pt idx="1">
                  <c:v>adversarial
red-herring</c:v>
                </c:pt>
                <c:pt idx="2">
                  <c:v>cascading
dependency</c:v>
                </c:pt>
                <c:pt idx="3">
                  <c:v>resource
exhaustion</c:v>
                </c:pt>
                <c:pt idx="4">
                  <c:v>deployment
induced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 OFF</c:v>
                </c:pt>
              </c:strCache>
            </c:strRef>
          </c:tx>
          <c:spPr>
            <a:solidFill>
              <a:srgbClr val="E74C3C"/>
            </a:solidFill>
          </c:spPr>
          <c:cat>
            <c:strRef>
              <c:f>Sheet1!$A$2:$A$6</c:f>
              <c:strCache>
                <c:ptCount val="5"/>
                <c:pt idx="0">
                  <c:v>ambiguous</c:v>
                </c:pt>
                <c:pt idx="1">
                  <c:v>adversarial
red-herring</c:v>
                </c:pt>
                <c:pt idx="2">
                  <c:v>cascading
dependency</c:v>
                </c:pt>
                <c:pt idx="3">
                  <c:v>resource
exhaustion</c:v>
                </c:pt>
                <c:pt idx="4">
                  <c:v>deployment
induced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6657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66573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TEAM CAIRO  ·  PROJECT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772400" cy="3017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C2833"/>
                </a:solidFill>
                <a:latin typeface="Calibri"/>
              </a:rPr>
              <a:t>INCIDENT
COMMANDER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480560"/>
            <a:ext cx="1828800" cy="4572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617720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C2833"/>
                </a:solidFill>
                <a:latin typeface="Calibri"/>
              </a:rPr>
              <a:t>V0.4  ·  PRE-FINAL ASSESSMENT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92040"/>
            <a:ext cx="73152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VALUE-OF-INFORMATION  |  HUMAN-GATED INTERVENTION  |  VERIFIABLE EVIDENCE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731520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 i="0">
                <a:solidFill>
                  <a:srgbClr val="566573"/>
                </a:solidFill>
                <a:latin typeface="Calibri"/>
              </a:rPr>
              <a:t>Period: Jul – Aug 2026  |  vs. hackathon pre-final spec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Basis: Working prototype  ·  8-bundle authored corpus  ·  live-LLM verified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274320"/>
            <a:ext cx="4114800" cy="4114800"/>
          </a:xfrm>
          <a:prstGeom prst="ellipse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0" y="4389120"/>
            <a:ext cx="1463040" cy="1463040"/>
          </a:xfrm>
          <a:prstGeom prst="ellipse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2148840"/>
            <a:ext cx="128016" cy="128016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057400"/>
            <a:ext cx="32004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 rot="5400000">
            <a:off x="11750040" y="457200"/>
            <a:ext cx="320040" cy="5943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900" b="1" i="0">
                <a:solidFill>
                  <a:srgbClr val="85929E"/>
                </a:solidFill>
                <a:latin typeface="Calibri"/>
              </a:rPr>
              <a:t>INCIDENT COMMANDER  ·  PRE-FINAL  ·  2026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126480"/>
            <a:ext cx="1110996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263640"/>
            <a:ext cx="2286000" cy="20116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22860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6263640"/>
            <a:ext cx="2194560" cy="20116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6446520"/>
            <a:ext cx="219456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C2833"/>
                </a:solidFill>
                <a:latin typeface="Calibri"/>
              </a:rPr>
              <a:t>2026.07 — 2026.08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6263640"/>
            <a:ext cx="1828800" cy="20116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ISSUE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6446520"/>
            <a:ext cx="18288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C2833"/>
                </a:solidFill>
                <a:latin typeface="Calibri"/>
              </a:rPr>
              <a:t>August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6263640"/>
            <a:ext cx="2834640" cy="20116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6446520"/>
            <a:ext cx="283464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C2833"/>
                </a:solidFill>
                <a:latin typeface="Calibri"/>
              </a:rPr>
              <a:t>Pre-Final Assessment V0.4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263640"/>
            <a:ext cx="1737360" cy="20116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REPORTING BASIS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446520"/>
            <a:ext cx="173736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C2833"/>
                </a:solidFill>
                <a:latin typeface="Calibri"/>
              </a:rPr>
              <a:t>8-bundle corpus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784848"/>
            <a:ext cx="1463040" cy="4572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02 | THE PROBLEM  ·  WHY MORE TELEMETRY DOESN'T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02 / 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AIOps tools collect more telemetry when investigations stall — but sometimes more data does not resolve ambiguity.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54864" cy="123444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" y="2011680"/>
            <a:ext cx="5431536" cy="1234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5120640" cy="10515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1" i="0">
                <a:solidFill>
                  <a:srgbClr val="049FD9"/>
                </a:solidFill>
                <a:latin typeface="Calibri"/>
              </a:rPr>
              <a:t>VERDICT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2833"/>
                </a:solidFill>
                <a:latin typeface="Calibri"/>
              </a:rPr>
              <a:t>Passive observation saturates. Engineers rely on intuition to stop.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66573"/>
                </a:solidFill>
                <a:latin typeface="Calibri"/>
              </a:rPr>
              <a:t>When two hypotheses stay statistically indistinguishable given all available telemetry, no additional passive check separates them. Existing tools do not expose this saturation point as an auditable decision.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29000"/>
            <a:ext cx="35661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3538728"/>
            <a:ext cx="334670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OF INCIDENTS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831336"/>
            <a:ext cx="3346704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2833"/>
                </a:solidFill>
                <a:latin typeface="Calibri"/>
              </a:rPr>
              <a:t>≈50%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99431"/>
            <a:ext cx="82296" cy="8229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544568"/>
            <a:ext cx="334670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end with a contested or unresolved cause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3429000"/>
            <a:ext cx="35661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3538728"/>
            <a:ext cx="334670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AIOPS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3831336"/>
            <a:ext cx="3346704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2833"/>
                </a:solidFill>
                <a:latin typeface="Calibri"/>
              </a:rPr>
              <a:t>0</a:t>
            </a:r>
          </a:p>
        </p:txBody>
      </p:sp>
      <p:sp>
        <p:nvSpPr>
          <p:cNvPr id="17" name="Oval 16"/>
          <p:cNvSpPr/>
          <p:nvPr/>
        </p:nvSpPr>
        <p:spPr>
          <a:xfrm>
            <a:off x="4270248" y="4599431"/>
            <a:ext cx="82296" cy="8229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4544568"/>
            <a:ext cx="334670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expose a formal 'stop observing' signal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3429000"/>
            <a:ext cx="39319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3538728"/>
            <a:ext cx="3712463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MTTR INFLATION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3831336"/>
            <a:ext cx="3712463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2833"/>
                </a:solidFill>
                <a:latin typeface="Calibri"/>
              </a:rPr>
              <a:t>2×</a:t>
            </a:r>
          </a:p>
        </p:txBody>
      </p:sp>
      <p:sp>
        <p:nvSpPr>
          <p:cNvPr id="22" name="Oval 21"/>
          <p:cNvSpPr/>
          <p:nvPr/>
        </p:nvSpPr>
        <p:spPr>
          <a:xfrm>
            <a:off x="7927848" y="4599431"/>
            <a:ext cx="82296" cy="8229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8" y="4544568"/>
            <a:ext cx="3712463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typical when investigations hit passive-evidence saturation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20640"/>
            <a:ext cx="11247120" cy="7315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49FD9"/>
                </a:solidFill>
                <a:latin typeface="Calibri"/>
              </a:rPr>
              <a:t>This is a decision-theoretic gap. Not an observability gap.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532120"/>
            <a:ext cx="11247120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66573"/>
                </a:solidFill>
                <a:latin typeface="Calibri"/>
              </a:rPr>
              <a:t>The engineer's implicit question — "is it worth checking one more thing, or should I act?" — has a formal answer in Value-of-Information theory.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03 | THE INSIGHT  ·  VALUE-OF-INFORMATION AS THE DECISION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03 / 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Every candidate next action is scored by expected information gain net of cost and risk.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11247120" cy="1234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54864" cy="123444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0312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DECISION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77440"/>
            <a:ext cx="10972800" cy="6858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C2833"/>
                </a:solidFill>
                <a:latin typeface="Consolas"/>
              </a:rPr>
              <a:t>VoI(a) = EIG(a) − λ · cost(a) − μ · risk(a)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20440"/>
            <a:ext cx="35661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630168"/>
            <a:ext cx="334670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COST WEIGHT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922776"/>
            <a:ext cx="3346704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2833"/>
                </a:solidFill>
                <a:latin typeface="Calibri"/>
              </a:rPr>
              <a:t>λ = 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544568"/>
            <a:ext cx="334670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Observations are cheap — small deduction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3520440"/>
            <a:ext cx="35661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3630168"/>
            <a:ext cx="334670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RISK WEIGHT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3922776"/>
            <a:ext cx="3346704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2833"/>
                </a:solidFill>
                <a:latin typeface="Calibri"/>
              </a:rPr>
              <a:t>μ = 1.00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4544568"/>
            <a:ext cx="334670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Intervention dominates only when observation collapses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3520440"/>
            <a:ext cx="3931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3630168"/>
            <a:ext cx="3712463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STAGNATION FLOOR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3922776"/>
            <a:ext cx="3712463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ε = 0.05 nats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4544568"/>
            <a:ext cx="3712463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Below this, no observation is expected to move the posterior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1208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THEORETICAL FOUNDATION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40680"/>
            <a:ext cx="11247120" cy="7772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66573"/>
                </a:solidFill>
                <a:latin typeface="Calibri"/>
              </a:rPr>
              <a:t>Howard (1966) — Information Value Theory  ·  Chaloner &amp; Verdinelli (1995) — Bayesian Experimental Design  ·  Pearl (2009) — Causal vs Correlational 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04 | THE MECHANISM  ·  AGENTS DISAGREE; ADJUDICATOR 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04 / 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566573"/>
                </a:solidFill>
                <a:latin typeface="Calibri"/>
              </a:rPr>
              <a:t>Specialist agents argue different theories. The adjudicator scores every candidate action and picks the argmax.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94560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33172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23317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Three biased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23317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change · telemetry · history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2811780"/>
            <a:ext cx="320040" cy="0"/>
          </a:xfrm>
          <a:prstGeom prst="bentConnector3">
            <a:avLst/>
          </a:prstGeom>
          <a:ln w="19050">
            <a:solidFill>
              <a:srgbClr val="859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429000" y="2194560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331720"/>
            <a:ext cx="233172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06040"/>
            <a:ext cx="23317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VoI adjudicator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971800"/>
            <a:ext cx="23317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EIG − λ·cost − μ·risk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2811780"/>
            <a:ext cx="320040" cy="0"/>
          </a:xfrm>
          <a:prstGeom prst="bentConnector3">
            <a:avLst/>
          </a:prstGeom>
          <a:ln w="19050">
            <a:solidFill>
              <a:srgbClr val="859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355080" y="2194560"/>
            <a:ext cx="26060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4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331720"/>
            <a:ext cx="233172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STAGE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23317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Probe · Intervention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23317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gated on human approval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61120" y="2811780"/>
            <a:ext cx="320040" cy="0"/>
          </a:xfrm>
          <a:prstGeom prst="bentConnector3">
            <a:avLst/>
          </a:prstGeom>
          <a:ln w="19050">
            <a:solidFill>
              <a:srgbClr val="859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281160" y="2194560"/>
            <a:ext cx="22402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331720"/>
            <a:ext cx="196596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7AE60"/>
                </a:solidFill>
                <a:latin typeface="Calibri"/>
              </a:rPr>
              <a:t>STAGE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606040"/>
            <a:ext cx="196596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Sealed verdict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971800"/>
            <a:ext cx="196596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Merkle + Ed25519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77639"/>
            <a:ext cx="54864" cy="123444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7784" y="3977639"/>
            <a:ext cx="11192256" cy="12344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114800"/>
            <a:ext cx="10881360" cy="10515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1" i="0">
                <a:solidFill>
                  <a:srgbClr val="049FD9"/>
                </a:solidFill>
                <a:latin typeface="Calibri"/>
              </a:rPr>
              <a:t>HOW THE HONESTY LAYER WORKS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2833"/>
                </a:solidFill>
                <a:latin typeface="Calibri"/>
              </a:rPr>
              <a:t>Passive checks continue while informative. When VoI collapses, only then does the intervention gate appear.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566573"/>
                </a:solidFill>
                <a:latin typeface="Calibri"/>
              </a:rPr>
              <a:t>Nothing destructive fires without an explicit human click. The verdict is Merkle-rooted over cited evidence and Ed25519-signed — verifiable offline in one command, from a standalone tool.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486400"/>
            <a:ext cx="1124712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GUARDRAILS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715000"/>
            <a:ext cx="1124712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K = 4 probes  ·  T = 45s wall clock  ·  τ = 0.15 margin  ·  ε = 0.05 nats  ·  intervention envelope: 5% traffic, 60s bound, auto-revert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05 | LIVE DEMONSTRATION  ·  THREE MOMENTS TO WATCH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05 / 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Best shown running. Watch for: the tie, the pause, the seal.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329184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MOMENT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329184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Ambiguity detected</a:t>
            </a:r>
          </a:p>
        </p:txBody>
      </p:sp>
      <p:pic>
        <p:nvPicPr>
          <p:cNvPr id="9" name="Picture 8" descr="03_INC4471_ambiguity_probe_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97480"/>
            <a:ext cx="3108960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257800"/>
            <a:ext cx="3291840" cy="10058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Two hypotheses within τ. System picks the highest-info probe.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29184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MOMENT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31720"/>
            <a:ext cx="329184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Observation saturates</a:t>
            </a:r>
          </a:p>
        </p:txBody>
      </p:sp>
      <p:pic>
        <p:nvPicPr>
          <p:cNvPr id="14" name="Picture 13" descr="09_INC4478_intervention_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697480"/>
            <a:ext cx="3108960" cy="2377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80560" y="5257800"/>
            <a:ext cx="3291840" cy="10058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Passive checks exhausted. Human-gated intervention offered.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01168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103120"/>
            <a:ext cx="329184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MOMENT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31720"/>
            <a:ext cx="329184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Verdict sealed</a:t>
            </a:r>
          </a:p>
        </p:txBody>
      </p:sp>
      <p:pic>
        <p:nvPicPr>
          <p:cNvPr id="19" name="Picture 18" descr="05_INC4471_verdict_sea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697480"/>
            <a:ext cx="3108960" cy="23774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75320" y="5257800"/>
            <a:ext cx="3291840" cy="10058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Merkle root + Ed25519 signature. Verifiable offline.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05  ·  Live demo begins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06 | THE PROOF  ·  ABLATION ACROSS 12 BUNDLES, 24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06 / 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731520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Turn probes off — zero percent. Turn them on — one hundred.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73152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66573"/>
                </a:solidFill>
                <a:latin typeface="Calibri"/>
              </a:rPr>
              <a:t>On the ambiguous and adversarial slices, specifically designed to be unresolvable by first-glance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441448"/>
            <a:ext cx="252374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Δ ACCURACY · HARD SLICES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734056"/>
            <a:ext cx="2523744" cy="45719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27AE60"/>
                </a:solidFill>
                <a:latin typeface="Calibri"/>
              </a:rPr>
              <a:t>+100%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319272"/>
            <a:ext cx="82296" cy="8229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264408"/>
            <a:ext cx="252374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0 % → 100 % (0/6 → 6/6)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33172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2441448"/>
            <a:ext cx="252374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TOP-1 · POLICY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734056"/>
            <a:ext cx="2523744" cy="45719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2833"/>
                </a:solidFill>
                <a:latin typeface="Calibri"/>
              </a:rPr>
              <a:t>100%</a:t>
            </a:r>
          </a:p>
        </p:txBody>
      </p:sp>
      <p:sp>
        <p:nvSpPr>
          <p:cNvPr id="15" name="Oval 14"/>
          <p:cNvSpPr/>
          <p:nvPr/>
        </p:nvSpPr>
        <p:spPr>
          <a:xfrm>
            <a:off x="3447288" y="3319272"/>
            <a:ext cx="82296" cy="8229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3264408"/>
            <a:ext cx="252374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12 / 12 bundles correct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33172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441448"/>
            <a:ext cx="252374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FP ROLLBACK · ADVERSARIAL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734056"/>
            <a:ext cx="2523744" cy="45719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C2833"/>
                </a:solidFill>
                <a:latin typeface="Calibri"/>
              </a:rPr>
              <a:t>100 → 0%</a:t>
            </a:r>
          </a:p>
        </p:txBody>
      </p:sp>
      <p:sp>
        <p:nvSpPr>
          <p:cNvPr id="20" name="Oval 19"/>
          <p:cNvSpPr/>
          <p:nvPr/>
        </p:nvSpPr>
        <p:spPr>
          <a:xfrm>
            <a:off x="6281928" y="3319272"/>
            <a:ext cx="82296" cy="8229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264408"/>
            <a:ext cx="252374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off → on, harmful action removed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2331720"/>
            <a:ext cx="2743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16567" y="2441448"/>
            <a:ext cx="252374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85929E"/>
                </a:solidFill>
                <a:latin typeface="Calibri"/>
              </a:rPr>
              <a:t>BRIER SCORE · POLICY 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734056"/>
            <a:ext cx="2523744" cy="45719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2833"/>
                </a:solidFill>
                <a:latin typeface="Calibri"/>
              </a:rPr>
              <a:t>0.004</a:t>
            </a:r>
          </a:p>
        </p:txBody>
      </p:sp>
      <p:sp>
        <p:nvSpPr>
          <p:cNvPr id="25" name="Oval 24"/>
          <p:cNvSpPr/>
          <p:nvPr/>
        </p:nvSpPr>
        <p:spPr>
          <a:xfrm>
            <a:off x="9116567" y="3319272"/>
            <a:ext cx="82296" cy="8229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3264408"/>
            <a:ext cx="2523744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baseline 0.287  ·  calibration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502920" y="3794760"/>
          <a:ext cx="112471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28" name="Connector 27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06  ·  Illustrative, not publication-grade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07 | PROGRESS TO DATE  ·  WORKING PROTOTYPE  ·  EVERY CLAIM IS RUNNABLE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07 / 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What is built, in the language of the four evaluation criteria.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363931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057400"/>
            <a:ext cx="338328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04288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VoI-guided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33472"/>
            <a:ext cx="338328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Three biased agents; info-gain probe selection; bounded loop (K=4, T=45s, τ=0.15).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920240"/>
            <a:ext cx="363931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3" y="2057400"/>
            <a:ext cx="338328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3" y="2304288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Human-gated intervention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3" y="2633472"/>
            <a:ext cx="338328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Specified 5% canary envelope, 60s bound, auto-revert. Nothing fires without approval.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5864" y="1920240"/>
            <a:ext cx="363931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2057400"/>
            <a:ext cx="338328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304288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Verifiable evidence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633472"/>
            <a:ext cx="338328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Merkle root + Ed25519 signature. Offline verifier prints VERIFIED or TAMPERED.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03320"/>
            <a:ext cx="363931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840480"/>
            <a:ext cx="338328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087368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Deterministic + live-LLM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4416552"/>
            <a:ext cx="338328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Reproducible offline. Live path via OpenRouter → Claude failover, JSON-validated.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3703320"/>
            <a:ext cx="363931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3983" y="3840480"/>
            <a:ext cx="338328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3" y="4087368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8 bundles, 5 slices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3" y="4416552"/>
            <a:ext cx="338328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Ablation harness produces reproducible metrics; per-slice breakdown in appendix.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55864" y="3703320"/>
            <a:ext cx="363931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3840480"/>
            <a:ext cx="338328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4087368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Enterprise console + replay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4416552"/>
            <a:ext cx="338328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566573"/>
                </a:solidFill>
                <a:latin typeface="Calibri"/>
              </a:rPr>
              <a:t>Cisco-language operator UI. Full replay mode for deterministic on-stage demos.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623560"/>
            <a:ext cx="54864" cy="365760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23560"/>
            <a:ext cx="1097280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RUNNABLE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C2833"/>
                </a:solidFill>
                <a:latin typeface="Consolas"/>
              </a:rPr>
              <a:t>python -m ic.harness  ·  python -m ic.investigate INC-4471 -o postmortem.json  ·  python verify.py postmortem.json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08 | LIMITATIONS  ·  STATED PLAINLY, BEFORE YOU HAVE TO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08 / 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Four disclosures. Each is a deliberate choice, not an oversight.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54864" cy="1691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103120"/>
            <a:ext cx="530352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E67E22"/>
                </a:solidFill>
                <a:latin typeface="Calibri"/>
              </a:rPr>
              <a:t>CORPUS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50008"/>
            <a:ext cx="53035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12 authored bundles across 5 slices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79191"/>
            <a:ext cx="5303520" cy="8686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Ground truth may be easier to reach than in an unfamiliar production system. Numbers are illustrative, not publication-grade.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96596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965960"/>
            <a:ext cx="54864" cy="1691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2103120"/>
            <a:ext cx="530352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E67E22"/>
                </a:solidFill>
                <a:latin typeface="Calibri"/>
              </a:rPr>
              <a:t>EXECUTION SURFACE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350008"/>
            <a:ext cx="53035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Intervention runs against fixture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679191"/>
            <a:ext cx="5303520" cy="8686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Same simulation model as our probes. A container-orchestrated canary executor is Phase 2 — item four on the roadmap.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94760"/>
            <a:ext cx="54864" cy="1691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931920"/>
            <a:ext cx="530352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E67E22"/>
                </a:solidFill>
                <a:latin typeface="Calibri"/>
              </a:rPr>
              <a:t>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178808"/>
            <a:ext cx="53035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OFF is a proxy, not a competitor 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507992"/>
            <a:ext cx="5303520" cy="8686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The OFF condition approximates unassisted investigation. We do not benchmark against Dynatrace, Datadog, or PagerDuty directly.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79476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794760"/>
            <a:ext cx="54864" cy="1691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931920"/>
            <a:ext cx="5303520" cy="2286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E67E22"/>
                </a:solidFill>
                <a:latin typeface="Calibri"/>
              </a:rPr>
              <a:t>CONSTANTS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178808"/>
            <a:ext cx="53035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λ, μ, ε are hand-tuned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507992"/>
            <a:ext cx="5303520" cy="8686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Not learned or calibrated against organization-specific cost structures. Making them organization-configurable is on the roadmap.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6928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85929E"/>
                </a:solidFill>
                <a:latin typeface="Calibri"/>
              </a:rPr>
              <a:t>Naming these on this slide preempts the hostile version of the question in Q&amp;A.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09 | ROADMAP  ·  SIX LADDER STAGES SHIPPED  ·  THREE REMAIN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09 / 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The nine-step production ladder from docs/ROADMAP.md. Each remaining stage names its tool.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777240" cy="777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777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049FD9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Policy engine + verification loop + CIS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41448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OPA + Rego gate replaces the Approve button. Verification re-checks recovery; failure auto-reverts. Customer-Impact Score routes urgency without ever touching diagnosis.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66960" y="2240280"/>
            <a:ext cx="1783080" cy="411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2295144"/>
            <a:ext cx="1783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C2833"/>
                </a:solidFill>
                <a:latin typeface="Calibri"/>
              </a:rPr>
              <a:t>shipped Sep 12–16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2971800"/>
            <a:ext cx="11247120" cy="0"/>
          </a:xfrm>
          <a:prstGeom prst="line">
            <a:avLst/>
          </a:prstGeom>
          <a:ln w="6350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2920" y="3017520"/>
            <a:ext cx="777240" cy="777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777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049FD9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63239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Dynamic LLM triage + OTLP adapter + corpus 8→12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01568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LLM generates hypotheses live from raw context with anti-hallucination filter. Spec-compliant OTLP JSON ingested via NiFi flow. Four new bundles exercise every new capability.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0" y="3200400"/>
            <a:ext cx="1783080" cy="411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3255263"/>
            <a:ext cx="1783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C2833"/>
                </a:solidFill>
                <a:latin typeface="Calibri"/>
              </a:rPr>
              <a:t>shipped Sep 14–19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3931920"/>
            <a:ext cx="11247120" cy="0"/>
          </a:xfrm>
          <a:prstGeom prst="line">
            <a:avLst/>
          </a:prstGeom>
          <a:ln w="6350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" y="3977639"/>
            <a:ext cx="777240" cy="777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69079"/>
            <a:ext cx="777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049FD9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023359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Live OTel Collector + shadow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61688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OTLP adapter is DONE — remaining work is wiring a real OpenTelemetry Collector to NiFi and adding the shadow-mode toggle that runs against real incidents without executing.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4160520"/>
            <a:ext cx="1783080" cy="411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4215383"/>
            <a:ext cx="1783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C2833"/>
                </a:solidFill>
                <a:latin typeface="Calibri"/>
              </a:rPr>
              <a:t>≈ 2 weeks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4892040"/>
            <a:ext cx="11247120" cy="0"/>
          </a:xfrm>
          <a:prstGeom prst="line">
            <a:avLst/>
          </a:prstGeom>
          <a:ln w="6350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2920" y="4937760"/>
            <a:ext cx="777240" cy="777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029200"/>
            <a:ext cx="777240" cy="6400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049FD9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983480"/>
            <a:ext cx="82296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2833"/>
                </a:solidFill>
                <a:latin typeface="Calibri"/>
              </a:rPr>
              <a:t>Argo Rollouts execution + formal EIG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321808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Interventions fire against a real k8s canary controller (Argo Rollouts). Divergence heuristic in probe selection is replaced by formal Expected Information Gain (Chaloner &amp; Verdinelli).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66960" y="5120640"/>
            <a:ext cx="1783080" cy="41148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5175504"/>
            <a:ext cx="1783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C2833"/>
                </a:solidFill>
                <a:latin typeface="Calibri"/>
              </a:rPr>
              <a:t>≈ 4 weeks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5852160"/>
            <a:ext cx="11247120" cy="0"/>
          </a:xfrm>
          <a:prstGeom prst="line">
            <a:avLst/>
          </a:prstGeom>
          <a:ln w="6350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194560"/>
            <a:ext cx="1828800" cy="54864"/>
          </a:xfrm>
          <a:prstGeom prst="rect">
            <a:avLst/>
          </a:prstGeom>
          <a:solidFill>
            <a:srgbClr val="049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109960" cy="16459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1C2833"/>
                </a:solidFill>
                <a:latin typeface="Calibri"/>
              </a:rPr>
              <a:t>The decision policy is what runs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109960" cy="12801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566573"/>
                </a:solidFill>
                <a:latin typeface="Calibri"/>
              </a:rPr>
              <a:t>Executing on it further — real infrastructure, larger corpus, organization-calibrated weights — is Phase 2, and we are explicit about the line.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5623560"/>
            <a:ext cx="1110996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5760720"/>
            <a:ext cx="1110996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C2833"/>
                </a:solidFill>
                <a:latin typeface="Calibri"/>
              </a:rPr>
              <a:t>Thank you — questions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62472"/>
            <a:ext cx="11109960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Repository: github.com/S2800-0/Incident-commander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10  ·  Close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11 | APPENDIX A  ·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11 / 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Where each concern lives.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5577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212079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95728"/>
            <a:ext cx="5212079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Python 3.13  ·  Pydantic  ·  FastAPI + WS  ·  cryptography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5212079" cy="11430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Deterministic reasoning engine + Anthropic SDK (drives both Claude and OpenRouter's Anthropic-compatible endpoint). SHA-256 Merkle + Ed25519 for the evidence chain.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011680"/>
            <a:ext cx="5577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5212079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95728"/>
            <a:ext cx="5212079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Vite  ·  React + TypeScript  ·  Recharts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724912"/>
            <a:ext cx="5212079" cy="11430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Cisco enterprise design language: navy rail, white workspace, single-accent palette. Full replay mode with client-side pause on gate_pending event.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14800"/>
            <a:ext cx="5577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51960"/>
            <a:ext cx="5212079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REASONING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98848"/>
            <a:ext cx="5212079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Deterministic first  ·  live-LLM lens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28032"/>
            <a:ext cx="5212079" cy="11430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The analytical engine derives every score from evidence payloads — so the ablation is reproducible with no API key. Live-LLM routes through a single choke point: strict JSON validation, one retry, provider failover.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114800"/>
            <a:ext cx="5577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251960"/>
            <a:ext cx="5212079" cy="2743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49FD9"/>
                </a:solidFill>
                <a:latin typeface="Calibri"/>
              </a:rPr>
              <a:t>CORPUS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98848"/>
            <a:ext cx="5212079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C2833"/>
                </a:solidFill>
                <a:latin typeface="Calibri"/>
              </a:rPr>
              <a:t>Schema-versioned JSON bundles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828032"/>
            <a:ext cx="5212079" cy="11430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66573"/>
                </a:solidFill>
                <a:latin typeface="Calibri"/>
              </a:rPr>
              <a:t>Every bundle authored against a documented invariant: the discriminating signal must live only in the probeable tier. Authoring guide + LLM-assisted first-draft workflow ships with the repo.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12 | APPENDIX B  ·  PER-SLICE ABLATION RESULTS  ·  12 BUNDLES, 24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320040"/>
            <a:ext cx="640080" cy="3200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566573"/>
                </a:solidFill>
                <a:latin typeface="Calibri"/>
              </a:rPr>
              <a:t>12 / 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8580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914400"/>
            <a:ext cx="11247120" cy="8229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2833"/>
                </a:solidFill>
                <a:latin typeface="Calibri"/>
              </a:rPr>
              <a:t>The full ablation on the wider corpus. Deployment-induced remains the easy case; hard slices still need probes.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463040"/>
                <a:gridCol w="2743200"/>
                <a:gridCol w="2834640"/>
              </a:tblGrid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49FD9"/>
                          </a:solidFill>
                          <a:latin typeface="Calibri"/>
                        </a:rPr>
                        <a:t>Slice</a:t>
                      </a:r>
                    </a:p>
                  </a:txBody>
                  <a:tcPr marL="137160" marR="137160" marT="91440" marB="91440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49FD9"/>
                          </a:solidFill>
                          <a:latin typeface="Calibri"/>
                        </a:rPr>
                        <a:t>Bundles</a:t>
                      </a:r>
                    </a:p>
                  </a:txBody>
                  <a:tcPr marL="137160" marR="137160" marT="91440" marB="91440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49FD9"/>
                          </a:solidFill>
                          <a:latin typeface="Calibri"/>
                        </a:rPr>
                        <a:t>Policy ON</a:t>
                      </a:r>
                    </a:p>
                  </a:txBody>
                  <a:tcPr marL="137160" marR="137160" marT="91440" marB="91440">
                    <a:solidFill>
                      <a:srgbClr val="EEF2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49FD9"/>
                          </a:solidFill>
                          <a:latin typeface="Calibri"/>
                        </a:rPr>
                        <a:t>Policy OFF</a:t>
                      </a:r>
                    </a:p>
                  </a:txBody>
                  <a:tcPr marL="137160" marR="137160" marT="91440" marB="91440">
                    <a:solidFill>
                      <a:srgbClr val="EEF2F5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ambiguous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100% (4/4)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0% (0/4)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adversarial red-herring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100% (2/2)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0% (0/2)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cascading dependency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100% (1/1)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0% (0/1)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resource exhaustion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100% (2/2)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0% (0/2)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deployment induced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100% (3/3)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66573"/>
                          </a:solidFill>
                          <a:latin typeface="Calibri"/>
                        </a:rPr>
                        <a:t>100% (3/3)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C2833"/>
                          </a:solidFill>
                          <a:latin typeface="Calibri"/>
                        </a:rPr>
                        <a:t>all bundles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C28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C2833"/>
                          </a:solidFill>
                          <a:latin typeface="Calibri"/>
                        </a:rPr>
                        <a:t>100% (12/12)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C2833"/>
                          </a:solidFill>
                          <a:latin typeface="Calibri"/>
                        </a:rPr>
                        <a:t>25% (3/12)</a:t>
                      </a:r>
                    </a:p>
                  </a:txBody>
                  <a:tcPr marL="137160" marR="137160" marT="91440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2356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85929E"/>
                </a:solidFill>
                <a:latin typeface="Calibri"/>
              </a:rPr>
              <a:t>For each of the 6 hard-slice bundles, OFF picks the wrong hypothesis; ON picks the right one.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46520"/>
            <a:ext cx="11201400" cy="0"/>
          </a:xfrm>
          <a:prstGeom prst="line">
            <a:avLst/>
          </a:prstGeom>
          <a:ln w="9525">
            <a:solidFill>
              <a:srgbClr val="E1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PREPARED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Team Cairo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537960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REPORTING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693408"/>
            <a:ext cx="320040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2026.07 – 2026.08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1" i="0">
                <a:solidFill>
                  <a:srgbClr val="85929E"/>
                </a:solidFill>
                <a:latin typeface="Calibri"/>
              </a:rPr>
              <a:t>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693408"/>
            <a:ext cx="3931920" cy="1828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C2833"/>
                </a:solidFill>
                <a:latin typeface="Calibri"/>
              </a:rPr>
              <a:t>Pre-Final V0.4  ·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" y="822960"/>
            <a:ext cx="1146017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65760" y="320040"/>
            <a:ext cx="11460175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Calibri"/>
              </a:rPr>
              <a:t>13 | APPENDIX C  ·  INDUSTRY FAILURE MODES  ·  WHAT WE DON'T FALL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96112"/>
            <a:ext cx="1036289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Eleven documented failure modes in the agentic-AI DevOps literature. Each maps to a shipped module.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320040"/>
            <a:ext cx="100584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13 / 13</a:t>
            </a:r>
          </a:p>
        </p:txBody>
      </p:sp>
      <p:pic>
        <p:nvPicPr>
          <p:cNvPr id="6" name="Picture 5" descr="failure_modes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371600"/>
            <a:ext cx="11430000" cy="64008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65760" y="6355080"/>
            <a:ext cx="1146017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446520"/>
            <a:ext cx="21945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Calibri"/>
              </a:rPr>
              <a:t>PREPARED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629400"/>
            <a:ext cx="21945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Calibri"/>
              </a:rPr>
              <a:t>Team Cairo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46520"/>
            <a:ext cx="21945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Calibri"/>
              </a:rPr>
              <a:t>REPORTING 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629400"/>
            <a:ext cx="21945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Calibri"/>
              </a:rPr>
              <a:t>2026.07 – 2026.09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6446520"/>
            <a:ext cx="21945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Calibri"/>
              </a:rPr>
              <a:t>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6629400"/>
            <a:ext cx="21945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Calibri"/>
              </a:rPr>
              <a:t>Pre-Final V0.5  ·  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
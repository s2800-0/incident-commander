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Policy ON</c:v>
                </c:pt>
              </c:strCache>
            </c:strRef>
          </c:tx>
          <c:spPr>
            <a:solidFill>
              <a:srgbClr val="049FD9"/>
            </a:solidFill>
          </c:spPr>
          <c:cat>
            <c:strRef>
              <c:f>Sheet1!$A$2:$A$6</c:f>
              <c:strCache>
                <c:ptCount val="5"/>
                <c:pt idx="0">
                  <c:v>ambiguous</c:v>
                </c:pt>
                <c:pt idx="1">
                  <c:v>adversarial
red-herring</c:v>
                </c:pt>
                <c:pt idx="2">
                  <c:v>cascading
dependency</c:v>
                </c:pt>
                <c:pt idx="3">
                  <c:v>resource
exhaustion</c:v>
                </c:pt>
                <c:pt idx="4">
                  <c:v>deployment
induced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OFF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Sheet1!$A$2:$A$6</c:f>
              <c:strCache>
                <c:ptCount val="5"/>
                <c:pt idx="0">
                  <c:v>ambiguous</c:v>
                </c:pt>
                <c:pt idx="1">
                  <c:v>adversarial
red-herring</c:v>
                </c:pt>
                <c:pt idx="2">
                  <c:v>cascading
dependency</c:v>
                </c:pt>
                <c:pt idx="3">
                  <c:v>resource
exhaustion</c:v>
                </c:pt>
                <c:pt idx="4">
                  <c:v>deployment
induced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6657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6657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TEAM CAIRO  · 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772400" cy="3017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C2833"/>
                </a:solidFill>
                <a:latin typeface="Calibri"/>
              </a:rPr>
              <a:t>INCIDENT
COMMANDER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480560"/>
            <a:ext cx="1828800" cy="457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V0.4  ·  PRE-FINAL ASSESSMENT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VALUE-OF-INFORMATION  |  HUMAN-GATED INTERVENTION  |  VERIFIABLE 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731520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566573"/>
                </a:solidFill>
                <a:latin typeface="Calibri"/>
              </a:rPr>
              <a:t>Period: Jul – Aug 2026  |  vs. hackathon pre-final spec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Basis: Working prototype  ·  8-bundle authored corpus  ·  live-LLM verified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74320"/>
            <a:ext cx="4114800" cy="4114800"/>
          </a:xfrm>
          <a:prstGeom prst="ellipse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4389120"/>
            <a:ext cx="1463040" cy="1463040"/>
          </a:xfrm>
          <a:prstGeom prst="ellipse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148840"/>
            <a:ext cx="128016" cy="128016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11750040" y="457200"/>
            <a:ext cx="320040" cy="5943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900" b="1" i="0">
                <a:solidFill>
                  <a:srgbClr val="85929E"/>
                </a:solidFill>
                <a:latin typeface="Calibri"/>
              </a:rPr>
              <a:t>INCIDENT COMMANDER  ·  PRE-FINAL  · 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126480"/>
            <a:ext cx="1110996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263640"/>
            <a:ext cx="228600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22860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6263640"/>
            <a:ext cx="219456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6446520"/>
            <a:ext cx="219456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2026.07 — 2026.08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6263640"/>
            <a:ext cx="182880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ISSUE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6446520"/>
            <a:ext cx="18288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263640"/>
            <a:ext cx="283464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6446520"/>
            <a:ext cx="28346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Pre-Final Assessment V0.4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263640"/>
            <a:ext cx="173736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REPORTING BASIS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46520"/>
            <a:ext cx="173736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8-bundle corpus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784848"/>
            <a:ext cx="1463040" cy="457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02 | THE PROBLEM  ·  WHY MORE TELEMETRY DOESN'T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02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AIOps tools collect more telemetry when investigations stall — but sometimes more data does not resolve ambiguity.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" cy="1234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2011680"/>
            <a:ext cx="5431536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10515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1" i="0">
                <a:solidFill>
                  <a:srgbClr val="049FD9"/>
                </a:solidFill>
                <a:latin typeface="Calibri"/>
              </a:rPr>
              <a:t>VERDICT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2833"/>
                </a:solidFill>
                <a:latin typeface="Calibri"/>
              </a:rPr>
              <a:t>Passive observation saturates. Engineers rely on intuition to stop.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66573"/>
                </a:solidFill>
                <a:latin typeface="Calibri"/>
              </a:rPr>
              <a:t>When two hypotheses stay statistically indistinguishable given all available telemetry, no additional passive check separates them. Existing tools do not expose this saturation point as an auditable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2900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53872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OF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31336"/>
            <a:ext cx="3346704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833"/>
                </a:solidFill>
                <a:latin typeface="Calibri"/>
              </a:rPr>
              <a:t>≈50%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99431"/>
            <a:ext cx="82296" cy="822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end with a contested or unresolved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42900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353872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AIOPS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831336"/>
            <a:ext cx="3346704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833"/>
                </a:solidFill>
                <a:latin typeface="Calibri"/>
              </a:rPr>
              <a:t>0</a:t>
            </a:r>
          </a:p>
        </p:txBody>
      </p:sp>
      <p:sp>
        <p:nvSpPr>
          <p:cNvPr id="17" name="Oval 16"/>
          <p:cNvSpPr/>
          <p:nvPr/>
        </p:nvSpPr>
        <p:spPr>
          <a:xfrm>
            <a:off x="4270248" y="4599431"/>
            <a:ext cx="82296" cy="822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expose a formal 'stop observing' signal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42900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353872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MTTR INFLATION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831336"/>
            <a:ext cx="3712463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833"/>
                </a:solidFill>
                <a:latin typeface="Calibri"/>
              </a:rPr>
              <a:t>2×</a:t>
            </a:r>
          </a:p>
        </p:txBody>
      </p:sp>
      <p:sp>
        <p:nvSpPr>
          <p:cNvPr id="22" name="Oval 21"/>
          <p:cNvSpPr/>
          <p:nvPr/>
        </p:nvSpPr>
        <p:spPr>
          <a:xfrm>
            <a:off x="7927848" y="4599431"/>
            <a:ext cx="82296" cy="8229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454456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typical when investigations hit passive-evidence saturation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1124712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49FD9"/>
                </a:solidFill>
                <a:latin typeface="Calibri"/>
              </a:rPr>
              <a:t>This is a decision-theoretic gap. Not an observability gap.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32120"/>
            <a:ext cx="112471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66573"/>
                </a:solidFill>
                <a:latin typeface="Calibri"/>
              </a:rPr>
              <a:t>The engineer's implicit question — "is it worth checking one more thing, or should I act?" — has a formal answer in Value-of-Information theory.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03 | THE INSIGHT  ·  VALUE-OF-INFORMATION AS THE DECISION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03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Every candidate next action is scored by expected information gain net of cost and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247120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" cy="1234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DECISION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10972800" cy="685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C2833"/>
                </a:solidFill>
                <a:latin typeface="Consolas"/>
              </a:rPr>
              <a:t>VoI(a) = EIG(a) − λ · cost(a) − μ · risk(a)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6301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COST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922776"/>
            <a:ext cx="3346704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2833"/>
                </a:solidFill>
                <a:latin typeface="Calibri"/>
              </a:rPr>
              <a:t>λ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Observations are cheap — small deduction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52044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36301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RISK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922776"/>
            <a:ext cx="3346704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2833"/>
                </a:solidFill>
                <a:latin typeface="Calibri"/>
              </a:rPr>
              <a:t>μ = 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Intervention dominates only when observation collapses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52044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3016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STAGNATION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922776"/>
            <a:ext cx="3712463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ε = 0.05 nats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454456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Below this, no observation is expected to move the posterior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THEORETICAL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0680"/>
            <a:ext cx="11247120" cy="7772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66573"/>
                </a:solidFill>
                <a:latin typeface="Calibri"/>
              </a:rPr>
              <a:t>Howard (1966) — Information Value Theory  ·  Chaloner &amp; Verdinelli (1995) — Bayesian Experimental Design  ·  Pearl (2009) — Causal vs Correlational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04 | THE MECHANISM  ·  AGENTS DISAGREE; ADJUDICATOR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04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566573"/>
                </a:solidFill>
                <a:latin typeface="Calibri"/>
              </a:rPr>
              <a:t>Specialist agents argue different theories. The adjudicator scores every candidate action and picks the argmax.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317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Three biased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change · telemetry · history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811780"/>
            <a:ext cx="320040" cy="0"/>
          </a:xfrm>
          <a:prstGeom prst="bentConnector3">
            <a:avLst/>
          </a:prstGeom>
          <a:ln w="19050">
            <a:solidFill>
              <a:srgbClr val="859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429000" y="2194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3317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0604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VoI adjudicator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7180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EIG − λ·cost − μ·risk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811780"/>
            <a:ext cx="320040" cy="0"/>
          </a:xfrm>
          <a:prstGeom prst="bentConnector3">
            <a:avLst/>
          </a:prstGeom>
          <a:ln w="19050">
            <a:solidFill>
              <a:srgbClr val="859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55080" y="2194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23317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Probe · Intervention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gated on human approval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2811780"/>
            <a:ext cx="320040" cy="0"/>
          </a:xfrm>
          <a:prstGeom prst="bentConnector3">
            <a:avLst/>
          </a:prstGeom>
          <a:ln w="19050">
            <a:solidFill>
              <a:srgbClr val="859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281160" y="219456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331720"/>
            <a:ext cx="196596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7AE60"/>
                </a:solidFill>
                <a:latin typeface="Calibri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06040"/>
            <a:ext cx="19659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Sealed 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71800"/>
            <a:ext cx="19659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Merkle + Ed25519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77639"/>
            <a:ext cx="54864" cy="1234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" y="3977639"/>
            <a:ext cx="11192256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114800"/>
            <a:ext cx="10881360" cy="10515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1" i="0">
                <a:solidFill>
                  <a:srgbClr val="049FD9"/>
                </a:solidFill>
                <a:latin typeface="Calibri"/>
              </a:rPr>
              <a:t>HOW THE HONESTY LAYER WORKS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2833"/>
                </a:solidFill>
                <a:latin typeface="Calibri"/>
              </a:rPr>
              <a:t>Passive checks continue while informative. When VoI collapses, only then does the intervention gate appear.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66573"/>
                </a:solidFill>
                <a:latin typeface="Calibri"/>
              </a:rPr>
              <a:t>Nothing destructive fires without an explicit human click. The verdict is Merkle-rooted over cited evidence and Ed25519-signed — verifiable offline in one command, from a standalone tool.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1124712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15000"/>
            <a:ext cx="112471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K = 4 probes  ·  T = 45s wall clock  ·  τ = 0.15 margin  ·  ε = 0.05 nats  ·  intervention envelope: 5% traffic, 60s bound, auto-revert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05 | LIVE DEMONSTRATION  ·  THREE MOMENTS TO WATCH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05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Best shown running. Watch for: the tie, the pause, the seal.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2918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MOMENT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Ambiguity detected</a:t>
            </a:r>
          </a:p>
        </p:txBody>
      </p:sp>
      <p:pic>
        <p:nvPicPr>
          <p:cNvPr id="9" name="Picture 8" descr="03_INC4471_ambiguity_probe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310896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257800"/>
            <a:ext cx="329184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Two hypotheses within τ. System picks the highest-info probe.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2918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MOMENT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Observation saturates</a:t>
            </a:r>
          </a:p>
        </p:txBody>
      </p:sp>
      <p:pic>
        <p:nvPicPr>
          <p:cNvPr id="14" name="Picture 13" descr="09_INC4478_intervention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97480"/>
            <a:ext cx="310896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80560" y="5257800"/>
            <a:ext cx="329184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Passive checks exhausted. Human-gated intervention offered.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2918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MOMENT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Verdict sealed</a:t>
            </a:r>
          </a:p>
        </p:txBody>
      </p:sp>
      <p:pic>
        <p:nvPicPr>
          <p:cNvPr id="19" name="Picture 18" descr="05_INC4471_verdict_sea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697480"/>
            <a:ext cx="3108960" cy="2377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5257800"/>
            <a:ext cx="329184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Merkle root + Ed25519 signature. Verifiable offline.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05  ·  Live demo begins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06 | THE PROOF  ·  ABLATION ACROSS 8 BUNDLES, 16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06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731520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Turn probes off — zero percent. Turn them on — one hundred.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66573"/>
                </a:solidFill>
                <a:latin typeface="Calibri"/>
              </a:rPr>
              <a:t>On the ambiguous and adversarial slices, specifically designed to be unresolvable by first-glance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Δ ACCURACY · HARD SLICES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7AE60"/>
                </a:solidFill>
                <a:latin typeface="Calibri"/>
              </a:rPr>
              <a:t>+100%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0 % → 100 % (0/5 → 5/5)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TOP-1 · POLICY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2833"/>
                </a:solidFill>
                <a:latin typeface="Calibri"/>
              </a:rPr>
              <a:t>100%</a:t>
            </a:r>
          </a:p>
        </p:txBody>
      </p:sp>
      <p:sp>
        <p:nvSpPr>
          <p:cNvPr id="15" name="Oval 14"/>
          <p:cNvSpPr/>
          <p:nvPr/>
        </p:nvSpPr>
        <p:spPr>
          <a:xfrm>
            <a:off x="3447288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8 / 8 bundles 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FP ROLLBACK · ADVERSARIAL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2833"/>
                </a:solidFill>
                <a:latin typeface="Calibri"/>
              </a:rPr>
              <a:t>100 → 0%</a:t>
            </a:r>
          </a:p>
        </p:txBody>
      </p:sp>
      <p:sp>
        <p:nvSpPr>
          <p:cNvPr id="20" name="Oval 19"/>
          <p:cNvSpPr/>
          <p:nvPr/>
        </p:nvSpPr>
        <p:spPr>
          <a:xfrm>
            <a:off x="6281928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off → on, harmful action removed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7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BRIER SCORE · POLICY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2833"/>
                </a:solidFill>
                <a:latin typeface="Calibri"/>
              </a:rPr>
              <a:t>0.004</a:t>
            </a:r>
          </a:p>
        </p:txBody>
      </p:sp>
      <p:sp>
        <p:nvSpPr>
          <p:cNvPr id="25" name="Oval 24"/>
          <p:cNvSpPr/>
          <p:nvPr/>
        </p:nvSpPr>
        <p:spPr>
          <a:xfrm>
            <a:off x="9116567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baseline 0.352  ·  calibration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02920" y="3794760"/>
          <a:ext cx="112471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8" name="Connector 27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06  ·  Illustrative, not publication-grade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07 | PROGRESS TO DATE  ·  WORKING PROTOTYPE  ·  EVERY CLAIM IS RUNNABLE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07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What is built, in the language of the four evaluation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0428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VoI-guided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3347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Three biased agents; info-gain probe selection; bounded loop (K=4, T=45s, τ=0.15).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92024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205740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3" y="230428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Human-gated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63347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Specified 5% canary envelope, 60s bound, auto-revert. Nothing fires without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192024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05740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Verifiable evidence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63347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Merkle root + Ed25519 signature. Offline verifier prints VERIFIED or TAMPERED.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84048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873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Deterministic + live-LLM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41655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Reproducible offline. Live path via OpenRouter → Claude failover, JSON-validated.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70332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3" y="384048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3" y="40873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8 bundles, 5 slices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441655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Ablation harness produces reproducible metrics; per-slice breakdown in appendix.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4" y="370332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84048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0873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Enterprise console + replay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41655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Cisco-language operator UI. Full replay mode for deterministic on-stage demos.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623560"/>
            <a:ext cx="54864" cy="36576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2356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RUNNABLE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C2833"/>
                </a:solidFill>
                <a:latin typeface="Consolas"/>
              </a:rPr>
              <a:t>python -m ic.harness  ·  python -m ic.investigate INC-4471 -o postmortem.json  ·  python verify.py postmortem.json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08 | LIMITATIONS  ·  STATED PLAINLY, BEFORE YOU HAVE TO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08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Four disclosures. Each is a deliberate choice, not an oversight.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031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CORPUS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00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8 authored bundles across 5 slices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79191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Ground truth may be easier to reach than in an unfamiliar production system. Numbers are illustrative, not publication-grade.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1031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EXECUTION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500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Intervention runs against fixture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79191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Same simulation model as our probes. A container-orchestrated canary executor is Phase 2 — item four on the roadmap.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319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1788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OFF is a proxy, not a competitor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507992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The OFF condition approximates unassisted investigation. We do not benchmark against Dynatrace, Datadog, or PagerDuty directly.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947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9319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CONSTANTS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788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λ, μ, ε are hand-tuned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507992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Not learned or calibrated against organization-specific cost structures. Making them organization-configurable is on the roadmap.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85929E"/>
                </a:solidFill>
                <a:latin typeface="Calibri"/>
              </a:rPr>
              <a:t>Naming these on this slide preempts the hostile version of the question in Q&amp;A.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09 | ROADMAP  ·  FOUR ITEMS, IN ORDER, TO THE FINAL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09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Each item is scoped, sized, and unblocks the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Read-only Prometheus connector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4144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Turn fixture probes into live telemetry. Highest-leverage unlock for real-world evaluation.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224028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295144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≈ 1 week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97180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017520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39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Grow the corpus from real postmortems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0156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Target 30+ bundles across all five slices. Unlocks the first honest reliability diagram.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320040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3255263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≈ 3 weeks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393192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977639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79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23359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LLM-driven probe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6168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Removes the three-family ceiling — system reads probe results for arbitrary signal types.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416052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4215383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≈ 2 weeks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89204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937760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98348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Container-orchestrated canary 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32180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The intervention primitive fires live against a real service; safety envelope enforced by k8s.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512064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5175504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≈ 3 weeks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585216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94560"/>
            <a:ext cx="1828800" cy="54864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109960" cy="1645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C2833"/>
                </a:solidFill>
                <a:latin typeface="Calibri"/>
              </a:rPr>
              <a:t>The decision policy is what runs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109960" cy="12801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566573"/>
                </a:solidFill>
                <a:latin typeface="Calibri"/>
              </a:rPr>
              <a:t>Executing on it further — real infrastructure, larger corpus, organization-calibrated weights — is Phase 2, and we are explicit about the line.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623560"/>
            <a:ext cx="1110996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60720"/>
            <a:ext cx="111099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C2833"/>
                </a:solidFill>
                <a:latin typeface="Calibri"/>
              </a:rPr>
              <a:t>Thank you — 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10996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Repository: github.com/S2800-0/Incident-commander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10  ·  Close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11 | APPENDIX A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11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Where each concern lives.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Python 3.13  ·  Pydantic  ·  FastAPI + WS  ·  cryptography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Deterministic reasoning engine + Anthropic SDK (drives both Claude and OpenRouter's Anthropic-compatible endpoint). SHA-256 Merkle + Ed25519 for the evidence chain.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01168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9572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Vite  ·  React + TypeScript  ·  Recharts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2491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Cisco enterprise design language: navy rail, white workspace, single-accent palette. Full replay mode with client-side pause on gate_pending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REASONING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Deterministic first  ·  live-LLM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The analytical engine derives every score from evidence payloads — so the ablation is reproducible with no API key. Live-LLM routes through a single choke point: strict JSON validation, one retry, provider failover.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1480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9884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Schema-versioned JSON bundles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2803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Every bundle authored against a documented invariant: the discriminating signal must live only in the probeable tier. Authoring guide + LLM-assisted first-draft workflow ships with the repo.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12 | APPENDIX B  ·  PER-SLICE ABLATION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12 / 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The full ablation, laid out. Deployment-induced is the easy case.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2743200"/>
                <a:gridCol w="283464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Bundles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Policy ON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Policy OFF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ambiguous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(3/3)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(0/3)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adversarial red-herring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(2/2)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cascading dependency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(1/1)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resource exhaustion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(1/1)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deployment induced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(1/1)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(1/1)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all bundles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100% (8/8)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12% (1/8)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85929E"/>
                </a:solidFill>
                <a:latin typeface="Calibri"/>
              </a:rPr>
              <a:t>For each of the 5 hard-slice bundles, OFF picks the wrong hypothesis; ON picks the right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